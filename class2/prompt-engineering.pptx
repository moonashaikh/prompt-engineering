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Lst>
  <p:sldSz cx="18288000" cy="10287000"/>
  <p:notesSz cx="6858000" cy="9144000"/>
  <p:embeddedFontLst>
    <p:embeddedFont>
      <p:font typeface="Open Sans Bold" charset="1" panose="00000000000000000000"/>
      <p:regular r:id="rId11"/>
    </p:embeddedFont>
    <p:embeddedFont>
      <p:font typeface="Open Sans" charset="1" panose="00000000000000000000"/>
      <p:regular r:id="rId12"/>
    </p:embeddedFont>
    <p:embeddedFont>
      <p:font typeface="Bebas Neue Cyrillic" charset="1" panose="02000506000000020004"/>
      <p:regular r:id="rId13"/>
    </p:embeddedFont>
    <p:embeddedFont>
      <p:font typeface="Canva Sans" charset="1" panose="020B0503030501040103"/>
      <p:regular r:id="rId14"/>
    </p:embeddedFont>
    <p:embeddedFont>
      <p:font typeface="Canva Sans Bold" charset="1" panose="020B0803030501040103"/>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jpeg" Type="http://schemas.openxmlformats.org/officeDocument/2006/relationships/image"/><Relationship Id="rId5"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8.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0" b="0"/>
            </a:stretch>
          </a:blipFill>
        </p:spPr>
      </p:sp>
      <p:grpSp>
        <p:nvGrpSpPr>
          <p:cNvPr name="Group 3" id="3"/>
          <p:cNvGrpSpPr/>
          <p:nvPr/>
        </p:nvGrpSpPr>
        <p:grpSpPr>
          <a:xfrm rot="0">
            <a:off x="6314264" y="0"/>
            <a:ext cx="11973736" cy="10287000"/>
            <a:chOff x="0" y="0"/>
            <a:chExt cx="3153576" cy="2709333"/>
          </a:xfrm>
        </p:grpSpPr>
        <p:sp>
          <p:nvSpPr>
            <p:cNvPr name="Freeform 4" id="4"/>
            <p:cNvSpPr/>
            <p:nvPr/>
          </p:nvSpPr>
          <p:spPr>
            <a:xfrm flipH="false" flipV="false" rot="0">
              <a:off x="0" y="0"/>
              <a:ext cx="3153577" cy="2709333"/>
            </a:xfrm>
            <a:custGeom>
              <a:avLst/>
              <a:gdLst/>
              <a:ahLst/>
              <a:cxnLst/>
              <a:rect r="r" b="b" t="t" l="l"/>
              <a:pathLst>
                <a:path h="2709333" w="3153577">
                  <a:moveTo>
                    <a:pt x="0" y="0"/>
                  </a:moveTo>
                  <a:lnTo>
                    <a:pt x="3153577" y="0"/>
                  </a:lnTo>
                  <a:lnTo>
                    <a:pt x="3153577" y="2709333"/>
                  </a:lnTo>
                  <a:lnTo>
                    <a:pt x="0" y="2709333"/>
                  </a:lnTo>
                  <a:close/>
                </a:path>
              </a:pathLst>
            </a:custGeom>
            <a:gradFill rotWithShape="true">
              <a:gsLst>
                <a:gs pos="0">
                  <a:srgbClr val="1F3291">
                    <a:alpha val="0"/>
                  </a:srgbClr>
                </a:gs>
                <a:gs pos="100000">
                  <a:srgbClr val="000935">
                    <a:alpha val="100000"/>
                  </a:srgbClr>
                </a:gs>
              </a:gsLst>
              <a:lin ang="0"/>
            </a:gradFill>
          </p:spPr>
        </p:sp>
        <p:sp>
          <p:nvSpPr>
            <p:cNvPr name="TextBox 5" id="5"/>
            <p:cNvSpPr txBox="true"/>
            <p:nvPr/>
          </p:nvSpPr>
          <p:spPr>
            <a:xfrm>
              <a:off x="0" y="-38100"/>
              <a:ext cx="3153576" cy="2747433"/>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7742214" y="7517955"/>
            <a:ext cx="47625" cy="1740345"/>
            <a:chOff x="0" y="0"/>
            <a:chExt cx="12543" cy="458362"/>
          </a:xfrm>
        </p:grpSpPr>
        <p:sp>
          <p:nvSpPr>
            <p:cNvPr name="Freeform 7" id="7"/>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5470FF">
                    <a:alpha val="100000"/>
                  </a:srgbClr>
                </a:gs>
                <a:gs pos="100000">
                  <a:srgbClr val="1F3291">
                    <a:alpha val="100000"/>
                  </a:srgbClr>
                </a:gs>
              </a:gsLst>
              <a:lin ang="2700000"/>
            </a:gradFill>
          </p:spPr>
        </p:sp>
        <p:sp>
          <p:nvSpPr>
            <p:cNvPr name="TextBox 8" id="8"/>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0">
            <a:off x="411717" y="402443"/>
            <a:ext cx="454926" cy="447482"/>
          </a:xfrm>
          <a:custGeom>
            <a:avLst/>
            <a:gdLst/>
            <a:ahLst/>
            <a:cxnLst/>
            <a:rect r="r" b="b" t="t" l="l"/>
            <a:pathLst>
              <a:path h="447482" w="454926">
                <a:moveTo>
                  <a:pt x="0" y="0"/>
                </a:moveTo>
                <a:lnTo>
                  <a:pt x="454927" y="0"/>
                </a:lnTo>
                <a:lnTo>
                  <a:pt x="454927" y="447482"/>
                </a:lnTo>
                <a:lnTo>
                  <a:pt x="0" y="4474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17259300" y="0"/>
            <a:ext cx="1028700" cy="1028700"/>
            <a:chOff x="0" y="0"/>
            <a:chExt cx="270933" cy="270933"/>
          </a:xfrm>
        </p:grpSpPr>
        <p:sp>
          <p:nvSpPr>
            <p:cNvPr name="Freeform 11" id="11"/>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5470FF">
                    <a:alpha val="100000"/>
                  </a:srgbClr>
                </a:gs>
                <a:gs pos="100000">
                  <a:srgbClr val="1F3291">
                    <a:alpha val="100000"/>
                  </a:srgbClr>
                </a:gs>
              </a:gsLst>
              <a:lin ang="2700000"/>
            </a:gradFill>
          </p:spPr>
        </p:sp>
        <p:sp>
          <p:nvSpPr>
            <p:cNvPr name="TextBox 12" id="12"/>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1039108" y="498624"/>
            <a:ext cx="2371820" cy="372745"/>
          </a:xfrm>
          <a:prstGeom prst="rect">
            <a:avLst/>
          </a:prstGeom>
        </p:spPr>
        <p:txBody>
          <a:bodyPr anchor="t" rtlCol="false" tIns="0" lIns="0" bIns="0" rIns="0">
            <a:spAutoFit/>
          </a:bodyPr>
          <a:lstStyle/>
          <a:p>
            <a:pPr algn="l">
              <a:lnSpc>
                <a:spcPts val="3079"/>
              </a:lnSpc>
              <a:spcBef>
                <a:spcPct val="0"/>
              </a:spcBef>
            </a:pPr>
            <a:r>
              <a:rPr lang="en-US" b="true" sz="2199">
                <a:solidFill>
                  <a:srgbClr val="000000"/>
                </a:solidFill>
                <a:latin typeface="Open Sans Bold"/>
                <a:ea typeface="Open Sans Bold"/>
                <a:cs typeface="Open Sans Bold"/>
                <a:sym typeface="Open Sans Bold"/>
              </a:rPr>
              <a:t>GIAIC STUDENT</a:t>
            </a:r>
          </a:p>
        </p:txBody>
      </p:sp>
      <p:sp>
        <p:nvSpPr>
          <p:cNvPr name="TextBox 14" id="14"/>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15" id="15"/>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16" id="16"/>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17" id="17"/>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18" id="18"/>
          <p:cNvSpPr txBox="true"/>
          <p:nvPr/>
        </p:nvSpPr>
        <p:spPr>
          <a:xfrm rot="0">
            <a:off x="17492295" y="9568113"/>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01</a:t>
            </a:r>
          </a:p>
        </p:txBody>
      </p:sp>
      <p:sp>
        <p:nvSpPr>
          <p:cNvPr name="TextBox 19" id="19"/>
          <p:cNvSpPr txBox="true"/>
          <p:nvPr/>
        </p:nvSpPr>
        <p:spPr>
          <a:xfrm rot="0">
            <a:off x="9187151" y="2117130"/>
            <a:ext cx="8359564" cy="2396241"/>
          </a:xfrm>
          <a:prstGeom prst="rect">
            <a:avLst/>
          </a:prstGeom>
        </p:spPr>
        <p:txBody>
          <a:bodyPr anchor="t" rtlCol="false" tIns="0" lIns="0" bIns="0" rIns="0">
            <a:spAutoFit/>
          </a:bodyPr>
          <a:lstStyle/>
          <a:p>
            <a:pPr algn="l">
              <a:lnSpc>
                <a:spcPts val="19690"/>
              </a:lnSpc>
              <a:spcBef>
                <a:spcPct val="0"/>
              </a:spcBef>
            </a:pPr>
            <a:r>
              <a:rPr lang="en-US" sz="14064">
                <a:solidFill>
                  <a:srgbClr val="FFFFFF"/>
                </a:solidFill>
                <a:latin typeface="Bebas Neue Cyrillic"/>
                <a:ea typeface="Bebas Neue Cyrillic"/>
                <a:cs typeface="Bebas Neue Cyrillic"/>
                <a:sym typeface="Bebas Neue Cyrillic"/>
              </a:rPr>
              <a:t>prompt</a:t>
            </a:r>
          </a:p>
        </p:txBody>
      </p:sp>
      <p:sp>
        <p:nvSpPr>
          <p:cNvPr name="TextBox 20" id="20"/>
          <p:cNvSpPr txBox="true"/>
          <p:nvPr/>
        </p:nvSpPr>
        <p:spPr>
          <a:xfrm rot="0">
            <a:off x="9144000" y="3775105"/>
            <a:ext cx="8359564" cy="2396241"/>
          </a:xfrm>
          <a:prstGeom prst="rect">
            <a:avLst/>
          </a:prstGeom>
        </p:spPr>
        <p:txBody>
          <a:bodyPr anchor="t" rtlCol="false" tIns="0" lIns="0" bIns="0" rIns="0">
            <a:spAutoFit/>
          </a:bodyPr>
          <a:lstStyle/>
          <a:p>
            <a:pPr algn="l">
              <a:lnSpc>
                <a:spcPts val="19690"/>
              </a:lnSpc>
              <a:spcBef>
                <a:spcPct val="0"/>
              </a:spcBef>
            </a:pPr>
            <a:r>
              <a:rPr lang="en-US" sz="14064">
                <a:solidFill>
                  <a:srgbClr val="FFFFFF"/>
                </a:solidFill>
                <a:latin typeface="Bebas Neue Cyrillic"/>
                <a:ea typeface="Bebas Neue Cyrillic"/>
                <a:cs typeface="Bebas Neue Cyrillic"/>
                <a:sym typeface="Bebas Neue Cyrillic"/>
              </a:rPr>
              <a:t>Engineering</a:t>
            </a:r>
          </a:p>
        </p:txBody>
      </p:sp>
      <p:grpSp>
        <p:nvGrpSpPr>
          <p:cNvPr name="Group 21" id="21"/>
          <p:cNvGrpSpPr/>
          <p:nvPr/>
        </p:nvGrpSpPr>
        <p:grpSpPr>
          <a:xfrm rot="0">
            <a:off x="9187151" y="6301055"/>
            <a:ext cx="6526921" cy="623294"/>
            <a:chOff x="0" y="0"/>
            <a:chExt cx="1719024" cy="164160"/>
          </a:xfrm>
        </p:grpSpPr>
        <p:sp>
          <p:nvSpPr>
            <p:cNvPr name="Freeform 22" id="22"/>
            <p:cNvSpPr/>
            <p:nvPr/>
          </p:nvSpPr>
          <p:spPr>
            <a:xfrm flipH="false" flipV="false" rot="0">
              <a:off x="0" y="0"/>
              <a:ext cx="1719024" cy="164160"/>
            </a:xfrm>
            <a:custGeom>
              <a:avLst/>
              <a:gdLst/>
              <a:ahLst/>
              <a:cxnLst/>
              <a:rect r="r" b="b" t="t" l="l"/>
              <a:pathLst>
                <a:path h="164160" w="1719024">
                  <a:moveTo>
                    <a:pt x="0" y="0"/>
                  </a:moveTo>
                  <a:lnTo>
                    <a:pt x="1719024" y="0"/>
                  </a:lnTo>
                  <a:lnTo>
                    <a:pt x="1719024" y="164160"/>
                  </a:lnTo>
                  <a:lnTo>
                    <a:pt x="0" y="164160"/>
                  </a:lnTo>
                  <a:close/>
                </a:path>
              </a:pathLst>
            </a:custGeom>
            <a:gradFill rotWithShape="true">
              <a:gsLst>
                <a:gs pos="0">
                  <a:srgbClr val="5470FF">
                    <a:alpha val="100000"/>
                  </a:srgbClr>
                </a:gs>
                <a:gs pos="100000">
                  <a:srgbClr val="1F3291">
                    <a:alpha val="100000"/>
                  </a:srgbClr>
                </a:gs>
              </a:gsLst>
              <a:lin ang="2700000"/>
            </a:gradFill>
          </p:spPr>
        </p:sp>
        <p:sp>
          <p:nvSpPr>
            <p:cNvPr name="TextBox 23" id="23"/>
            <p:cNvSpPr txBox="true"/>
            <p:nvPr/>
          </p:nvSpPr>
          <p:spPr>
            <a:xfrm>
              <a:off x="0" y="-38100"/>
              <a:ext cx="1719024" cy="202260"/>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9187151" y="6466372"/>
            <a:ext cx="6526921" cy="264160"/>
          </a:xfrm>
          <a:prstGeom prst="rect">
            <a:avLst/>
          </a:prstGeom>
        </p:spPr>
        <p:txBody>
          <a:bodyPr anchor="t" rtlCol="false" tIns="0" lIns="0" bIns="0" rIns="0">
            <a:spAutoFit/>
          </a:bodyPr>
          <a:lstStyle/>
          <a:p>
            <a:pPr algn="ctr">
              <a:lnSpc>
                <a:spcPts val="2239"/>
              </a:lnSpc>
              <a:spcBef>
                <a:spcPct val="0"/>
              </a:spcBef>
            </a:pPr>
            <a:r>
              <a:rPr lang="en-US" sz="1599" spc="1011">
                <a:solidFill>
                  <a:srgbClr val="FFFFFF"/>
                </a:solidFill>
                <a:latin typeface="Open Sans"/>
                <a:ea typeface="Open Sans"/>
                <a:cs typeface="Open Sans"/>
                <a:sym typeface="Open Sans"/>
              </a:rPr>
              <a:t>WWW.GITHUB.COM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938">
                <a:alpha val="100000"/>
              </a:srgbClr>
            </a:gs>
            <a:gs pos="100000">
              <a:srgbClr val="000935">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7742214" y="7517955"/>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5470FF">
                    <a:alpha val="100000"/>
                  </a:srgbClr>
                </a:gs>
                <a:gs pos="100000">
                  <a:srgbClr val="1F3291">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11717" y="402443"/>
            <a:ext cx="454926" cy="447482"/>
          </a:xfrm>
          <a:custGeom>
            <a:avLst/>
            <a:gdLst/>
            <a:ahLst/>
            <a:cxnLst/>
            <a:rect r="r" b="b" t="t" l="l"/>
            <a:pathLst>
              <a:path h="447482" w="454926">
                <a:moveTo>
                  <a:pt x="0" y="0"/>
                </a:moveTo>
                <a:lnTo>
                  <a:pt x="454927" y="0"/>
                </a:lnTo>
                <a:lnTo>
                  <a:pt x="454927" y="447482"/>
                </a:lnTo>
                <a:lnTo>
                  <a:pt x="0" y="4474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5470FF">
                    <a:alpha val="100000"/>
                  </a:srgbClr>
                </a:gs>
                <a:gs pos="100000">
                  <a:srgbClr val="1F3291">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39108" y="498624"/>
            <a:ext cx="2094620" cy="356235"/>
          </a:xfrm>
          <a:prstGeom prst="rect">
            <a:avLst/>
          </a:prstGeom>
        </p:spPr>
        <p:txBody>
          <a:bodyPr anchor="t" rtlCol="false" tIns="0" lIns="0" bIns="0" rIns="0">
            <a:spAutoFit/>
          </a:bodyPr>
          <a:lstStyle/>
          <a:p>
            <a:pPr algn="l">
              <a:lnSpc>
                <a:spcPts val="2939"/>
              </a:lnSpc>
              <a:spcBef>
                <a:spcPct val="0"/>
              </a:spcBef>
            </a:pPr>
            <a:r>
              <a:rPr lang="en-US" sz="2099">
                <a:solidFill>
                  <a:srgbClr val="FFFFFF"/>
                </a:solidFill>
                <a:latin typeface="Open Sans"/>
                <a:ea typeface="Open Sans"/>
                <a:cs typeface="Open Sans"/>
                <a:sym typeface="Open Sans"/>
              </a:rPr>
              <a:t>GIAIC  STUDENT</a:t>
            </a:r>
          </a:p>
        </p:txBody>
      </p:sp>
      <p:sp>
        <p:nvSpPr>
          <p:cNvPr name="TextBox 10" id="10"/>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11" id="11"/>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12" id="12"/>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13" id="13"/>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14" id="14"/>
          <p:cNvSpPr txBox="true"/>
          <p:nvPr/>
        </p:nvSpPr>
        <p:spPr>
          <a:xfrm rot="0">
            <a:off x="17492295" y="9568113"/>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02</a:t>
            </a:r>
          </a:p>
        </p:txBody>
      </p:sp>
      <p:grpSp>
        <p:nvGrpSpPr>
          <p:cNvPr name="Group 15" id="15"/>
          <p:cNvGrpSpPr/>
          <p:nvPr/>
        </p:nvGrpSpPr>
        <p:grpSpPr>
          <a:xfrm rot="0">
            <a:off x="0" y="1799773"/>
            <a:ext cx="7634687" cy="6687454"/>
            <a:chOff x="0" y="0"/>
            <a:chExt cx="10179583" cy="8916606"/>
          </a:xfrm>
        </p:grpSpPr>
        <p:pic>
          <p:nvPicPr>
            <p:cNvPr name="Picture 16" id="16"/>
            <p:cNvPicPr>
              <a:picLocks noChangeAspect="true"/>
            </p:cNvPicPr>
            <p:nvPr/>
          </p:nvPicPr>
          <p:blipFill>
            <a:blip r:embed="rId4"/>
            <a:srcRect l="20859" t="0" r="3031" b="0"/>
            <a:stretch>
              <a:fillRect/>
            </a:stretch>
          </p:blipFill>
          <p:spPr>
            <a:xfrm flipH="true" flipV="false">
              <a:off x="0" y="0"/>
              <a:ext cx="10179583" cy="8916606"/>
            </a:xfrm>
            <a:prstGeom prst="rect">
              <a:avLst/>
            </a:prstGeom>
          </p:spPr>
        </p:pic>
      </p:grpSp>
      <p:grpSp>
        <p:nvGrpSpPr>
          <p:cNvPr name="Group 17" id="17"/>
          <p:cNvGrpSpPr/>
          <p:nvPr/>
        </p:nvGrpSpPr>
        <p:grpSpPr>
          <a:xfrm rot="0">
            <a:off x="6125374" y="3578430"/>
            <a:ext cx="3018626" cy="3130140"/>
            <a:chOff x="0" y="0"/>
            <a:chExt cx="425492" cy="441210"/>
          </a:xfrm>
        </p:grpSpPr>
        <p:sp>
          <p:nvSpPr>
            <p:cNvPr name="Freeform 18" id="18"/>
            <p:cNvSpPr/>
            <p:nvPr/>
          </p:nvSpPr>
          <p:spPr>
            <a:xfrm flipH="false" flipV="false" rot="0">
              <a:off x="0" y="0"/>
              <a:ext cx="425492" cy="441210"/>
            </a:xfrm>
            <a:custGeom>
              <a:avLst/>
              <a:gdLst/>
              <a:ahLst/>
              <a:cxnLst/>
              <a:rect r="r" b="b" t="t" l="l"/>
              <a:pathLst>
                <a:path h="441210" w="425492">
                  <a:moveTo>
                    <a:pt x="0" y="0"/>
                  </a:moveTo>
                  <a:lnTo>
                    <a:pt x="425492" y="0"/>
                  </a:lnTo>
                  <a:lnTo>
                    <a:pt x="425492" y="441210"/>
                  </a:lnTo>
                  <a:lnTo>
                    <a:pt x="0" y="441210"/>
                  </a:lnTo>
                  <a:close/>
                </a:path>
              </a:pathLst>
            </a:custGeom>
            <a:gradFill rotWithShape="true">
              <a:gsLst>
                <a:gs pos="0">
                  <a:srgbClr val="5470FF">
                    <a:alpha val="100000"/>
                  </a:srgbClr>
                </a:gs>
                <a:gs pos="100000">
                  <a:srgbClr val="1F3291">
                    <a:alpha val="100000"/>
                  </a:srgbClr>
                </a:gs>
              </a:gsLst>
              <a:lin ang="2700000"/>
            </a:gradFill>
          </p:spPr>
        </p:sp>
        <p:sp>
          <p:nvSpPr>
            <p:cNvPr name="TextBox 19" id="19"/>
            <p:cNvSpPr txBox="true"/>
            <p:nvPr/>
          </p:nvSpPr>
          <p:spPr>
            <a:xfrm>
              <a:off x="0" y="-38100"/>
              <a:ext cx="425492" cy="479310"/>
            </a:xfrm>
            <a:prstGeom prst="rect">
              <a:avLst/>
            </a:prstGeom>
          </p:spPr>
          <p:txBody>
            <a:bodyPr anchor="ctr" rtlCol="false" tIns="50800" lIns="50800" bIns="50800" rIns="50800"/>
            <a:lstStyle/>
            <a:p>
              <a:pPr algn="ctr">
                <a:lnSpc>
                  <a:spcPts val="2659"/>
                </a:lnSpc>
                <a:spcBef>
                  <a:spcPct val="0"/>
                </a:spcBef>
              </a:pPr>
            </a:p>
          </p:txBody>
        </p:sp>
      </p:grpSp>
      <p:pic>
        <p:nvPicPr>
          <p:cNvPr name="Picture 20" id="20"/>
          <p:cNvPicPr>
            <a:picLocks noChangeAspect="true"/>
          </p:cNvPicPr>
          <p:nvPr/>
        </p:nvPicPr>
        <p:blipFill>
          <a:blip r:embed="rId5"/>
          <a:stretch>
            <a:fillRect/>
          </a:stretch>
        </p:blipFill>
        <p:spPr>
          <a:xfrm rot="0">
            <a:off x="6327703" y="3836516"/>
            <a:ext cx="2613967" cy="2613967"/>
          </a:xfrm>
          <a:prstGeom prst="rect">
            <a:avLst/>
          </a:prstGeom>
        </p:spPr>
      </p:pic>
      <p:sp>
        <p:nvSpPr>
          <p:cNvPr name="TextBox 21" id="21"/>
          <p:cNvSpPr txBox="true"/>
          <p:nvPr/>
        </p:nvSpPr>
        <p:spPr>
          <a:xfrm rot="0">
            <a:off x="10833481" y="2437921"/>
            <a:ext cx="4392426" cy="1940443"/>
          </a:xfrm>
          <a:prstGeom prst="rect">
            <a:avLst/>
          </a:prstGeom>
        </p:spPr>
        <p:txBody>
          <a:bodyPr anchor="t" rtlCol="false" tIns="0" lIns="0" bIns="0" rIns="0">
            <a:spAutoFit/>
          </a:bodyPr>
          <a:lstStyle/>
          <a:p>
            <a:pPr algn="l">
              <a:lnSpc>
                <a:spcPts val="7463"/>
              </a:lnSpc>
            </a:pPr>
            <a:r>
              <a:rPr lang="en-US" sz="7389">
                <a:solidFill>
                  <a:srgbClr val="FFFFFF"/>
                </a:solidFill>
                <a:latin typeface="Bebas Neue Cyrillic"/>
                <a:ea typeface="Bebas Neue Cyrillic"/>
                <a:cs typeface="Bebas Neue Cyrillic"/>
                <a:sym typeface="Bebas Neue Cyrillic"/>
              </a:rPr>
              <a:t>About prompt </a:t>
            </a:r>
          </a:p>
          <a:p>
            <a:pPr algn="l">
              <a:lnSpc>
                <a:spcPts val="7463"/>
              </a:lnSpc>
            </a:pPr>
            <a:r>
              <a:rPr lang="en-US" sz="7389">
                <a:solidFill>
                  <a:srgbClr val="FFFFFF"/>
                </a:solidFill>
                <a:latin typeface="Bebas Neue Cyrillic"/>
                <a:ea typeface="Bebas Neue Cyrillic"/>
                <a:cs typeface="Bebas Neue Cyrillic"/>
                <a:sym typeface="Bebas Neue Cyrillic"/>
              </a:rPr>
              <a:t>engineering</a:t>
            </a:r>
          </a:p>
        </p:txBody>
      </p:sp>
      <p:grpSp>
        <p:nvGrpSpPr>
          <p:cNvPr name="Group 22" id="22"/>
          <p:cNvGrpSpPr/>
          <p:nvPr/>
        </p:nvGrpSpPr>
        <p:grpSpPr>
          <a:xfrm rot="0">
            <a:off x="10833481" y="5587567"/>
            <a:ext cx="2931669" cy="48938"/>
            <a:chOff x="0" y="0"/>
            <a:chExt cx="772127" cy="12889"/>
          </a:xfrm>
        </p:grpSpPr>
        <p:sp>
          <p:nvSpPr>
            <p:cNvPr name="Freeform 23" id="23"/>
            <p:cNvSpPr/>
            <p:nvPr/>
          </p:nvSpPr>
          <p:spPr>
            <a:xfrm flipH="false" flipV="false" rot="0">
              <a:off x="0" y="0"/>
              <a:ext cx="772127" cy="12889"/>
            </a:xfrm>
            <a:custGeom>
              <a:avLst/>
              <a:gdLst/>
              <a:ahLst/>
              <a:cxnLst/>
              <a:rect r="r" b="b" t="t" l="l"/>
              <a:pathLst>
                <a:path h="12889" w="772127">
                  <a:moveTo>
                    <a:pt x="0" y="0"/>
                  </a:moveTo>
                  <a:lnTo>
                    <a:pt x="772127" y="0"/>
                  </a:lnTo>
                  <a:lnTo>
                    <a:pt x="772127" y="12889"/>
                  </a:lnTo>
                  <a:lnTo>
                    <a:pt x="0" y="12889"/>
                  </a:lnTo>
                  <a:close/>
                </a:path>
              </a:pathLst>
            </a:custGeom>
            <a:gradFill rotWithShape="true">
              <a:gsLst>
                <a:gs pos="0">
                  <a:srgbClr val="5470FF">
                    <a:alpha val="100000"/>
                  </a:srgbClr>
                </a:gs>
                <a:gs pos="100000">
                  <a:srgbClr val="1F3291">
                    <a:alpha val="100000"/>
                  </a:srgbClr>
                </a:gs>
              </a:gsLst>
              <a:lin ang="2700000"/>
            </a:gradFill>
          </p:spPr>
        </p:sp>
        <p:sp>
          <p:nvSpPr>
            <p:cNvPr name="TextBox 24" id="24"/>
            <p:cNvSpPr txBox="true"/>
            <p:nvPr/>
          </p:nvSpPr>
          <p:spPr>
            <a:xfrm>
              <a:off x="0" y="-38100"/>
              <a:ext cx="772127" cy="50989"/>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9922346" y="6627340"/>
            <a:ext cx="6996956" cy="3480551"/>
          </a:xfrm>
          <a:prstGeom prst="rect">
            <a:avLst/>
          </a:prstGeom>
        </p:spPr>
        <p:txBody>
          <a:bodyPr anchor="t" rtlCol="false" tIns="0" lIns="0" bIns="0" rIns="0">
            <a:spAutoFit/>
          </a:bodyPr>
          <a:lstStyle/>
          <a:p>
            <a:pPr algn="l">
              <a:lnSpc>
                <a:spcPts val="3458"/>
              </a:lnSpc>
              <a:spcBef>
                <a:spcPct val="0"/>
              </a:spcBef>
            </a:pPr>
            <a:r>
              <a:rPr lang="en-US" b="true" sz="2470">
                <a:solidFill>
                  <a:srgbClr val="FFFFFF"/>
                </a:solidFill>
                <a:latin typeface="Open Sans Bold"/>
                <a:ea typeface="Open Sans Bold"/>
                <a:cs typeface="Open Sans Bold"/>
                <a:sym typeface="Open Sans Bold"/>
              </a:rPr>
              <a:t>Prompt engineering is the process of crafting instructions, or "prompts," to guide large language models (LLMs) in order to get the desired output. It involves using clear and structured language, context, and examples to optimize the AI's performance for tasks like writing, summarizing, or coding.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938">
                <a:alpha val="100000"/>
              </a:srgbClr>
            </a:gs>
            <a:gs pos="100000">
              <a:srgbClr val="000935">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7742214" y="7517955"/>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5470FF">
                    <a:alpha val="100000"/>
                  </a:srgbClr>
                </a:gs>
                <a:gs pos="100000">
                  <a:srgbClr val="1F3291">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11717" y="402443"/>
            <a:ext cx="454926" cy="447482"/>
          </a:xfrm>
          <a:custGeom>
            <a:avLst/>
            <a:gdLst/>
            <a:ahLst/>
            <a:cxnLst/>
            <a:rect r="r" b="b" t="t" l="l"/>
            <a:pathLst>
              <a:path h="447482" w="454926">
                <a:moveTo>
                  <a:pt x="0" y="0"/>
                </a:moveTo>
                <a:lnTo>
                  <a:pt x="454927" y="0"/>
                </a:lnTo>
                <a:lnTo>
                  <a:pt x="454927" y="447482"/>
                </a:lnTo>
                <a:lnTo>
                  <a:pt x="0" y="4474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5470FF">
                    <a:alpha val="100000"/>
                  </a:srgbClr>
                </a:gs>
                <a:gs pos="100000">
                  <a:srgbClr val="1F3291">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940888" y="3383895"/>
            <a:ext cx="2931669" cy="48938"/>
            <a:chOff x="0" y="0"/>
            <a:chExt cx="772127" cy="12889"/>
          </a:xfrm>
        </p:grpSpPr>
        <p:sp>
          <p:nvSpPr>
            <p:cNvPr name="Freeform 10" id="10"/>
            <p:cNvSpPr/>
            <p:nvPr/>
          </p:nvSpPr>
          <p:spPr>
            <a:xfrm flipH="false" flipV="false" rot="0">
              <a:off x="0" y="0"/>
              <a:ext cx="772127" cy="12889"/>
            </a:xfrm>
            <a:custGeom>
              <a:avLst/>
              <a:gdLst/>
              <a:ahLst/>
              <a:cxnLst/>
              <a:rect r="r" b="b" t="t" l="l"/>
              <a:pathLst>
                <a:path h="12889" w="772127">
                  <a:moveTo>
                    <a:pt x="0" y="0"/>
                  </a:moveTo>
                  <a:lnTo>
                    <a:pt x="772127" y="0"/>
                  </a:lnTo>
                  <a:lnTo>
                    <a:pt x="772127" y="12889"/>
                  </a:lnTo>
                  <a:lnTo>
                    <a:pt x="0" y="12889"/>
                  </a:lnTo>
                  <a:close/>
                </a:path>
              </a:pathLst>
            </a:custGeom>
            <a:gradFill rotWithShape="true">
              <a:gsLst>
                <a:gs pos="0">
                  <a:srgbClr val="5470FF">
                    <a:alpha val="100000"/>
                  </a:srgbClr>
                </a:gs>
                <a:gs pos="100000">
                  <a:srgbClr val="1F3291">
                    <a:alpha val="100000"/>
                  </a:srgbClr>
                </a:gs>
              </a:gsLst>
              <a:lin ang="2700000"/>
            </a:gradFill>
          </p:spPr>
        </p:sp>
        <p:sp>
          <p:nvSpPr>
            <p:cNvPr name="TextBox 11" id="11"/>
            <p:cNvSpPr txBox="true"/>
            <p:nvPr/>
          </p:nvSpPr>
          <p:spPr>
            <a:xfrm>
              <a:off x="0" y="-38100"/>
              <a:ext cx="772127" cy="50989"/>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670617" y="1028700"/>
            <a:ext cx="15588683" cy="9258300"/>
          </a:xfrm>
          <a:custGeom>
            <a:avLst/>
            <a:gdLst/>
            <a:ahLst/>
            <a:cxnLst/>
            <a:rect r="r" b="b" t="t" l="l"/>
            <a:pathLst>
              <a:path h="9258300" w="15588683">
                <a:moveTo>
                  <a:pt x="0" y="0"/>
                </a:moveTo>
                <a:lnTo>
                  <a:pt x="15588683" y="0"/>
                </a:lnTo>
                <a:lnTo>
                  <a:pt x="15588683" y="9258300"/>
                </a:lnTo>
                <a:lnTo>
                  <a:pt x="0" y="9258300"/>
                </a:lnTo>
                <a:lnTo>
                  <a:pt x="0" y="0"/>
                </a:lnTo>
                <a:close/>
              </a:path>
            </a:pathLst>
          </a:custGeom>
          <a:blipFill>
            <a:blip r:embed="rId4"/>
            <a:stretch>
              <a:fillRect l="0" t="-6289" r="0" b="-5258"/>
            </a:stretch>
          </a:blipFill>
        </p:spPr>
      </p:sp>
      <p:sp>
        <p:nvSpPr>
          <p:cNvPr name="TextBox 13" id="13"/>
          <p:cNvSpPr txBox="true"/>
          <p:nvPr/>
        </p:nvSpPr>
        <p:spPr>
          <a:xfrm rot="0">
            <a:off x="1039108" y="498624"/>
            <a:ext cx="2367615" cy="339725"/>
          </a:xfrm>
          <a:prstGeom prst="rect">
            <a:avLst/>
          </a:prstGeom>
        </p:spPr>
        <p:txBody>
          <a:bodyPr anchor="t" rtlCol="false" tIns="0" lIns="0" bIns="0" rIns="0">
            <a:spAutoFit/>
          </a:bodyPr>
          <a:lstStyle/>
          <a:p>
            <a:pPr algn="l">
              <a:lnSpc>
                <a:spcPts val="2799"/>
              </a:lnSpc>
              <a:spcBef>
                <a:spcPct val="0"/>
              </a:spcBef>
            </a:pPr>
            <a:r>
              <a:rPr lang="en-US" sz="1999">
                <a:solidFill>
                  <a:srgbClr val="FFFFFF"/>
                </a:solidFill>
                <a:latin typeface="Open Sans"/>
                <a:ea typeface="Open Sans"/>
                <a:cs typeface="Open Sans"/>
                <a:sym typeface="Open Sans"/>
              </a:rPr>
              <a:t>GIAIC STUDENT</a:t>
            </a:r>
          </a:p>
        </p:txBody>
      </p:sp>
      <p:sp>
        <p:nvSpPr>
          <p:cNvPr name="TextBox 14" id="14"/>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15" id="15"/>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16" id="16"/>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17" id="17"/>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18" id="18"/>
          <p:cNvSpPr txBox="true"/>
          <p:nvPr/>
        </p:nvSpPr>
        <p:spPr>
          <a:xfrm rot="0">
            <a:off x="17492295" y="9568113"/>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03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938">
                <a:alpha val="100000"/>
              </a:srgbClr>
            </a:gs>
            <a:gs pos="100000">
              <a:srgbClr val="000935">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7742214" y="7517955"/>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5470FF">
                    <a:alpha val="100000"/>
                  </a:srgbClr>
                </a:gs>
                <a:gs pos="100000">
                  <a:srgbClr val="1F3291">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11717" y="402443"/>
            <a:ext cx="454926" cy="447482"/>
          </a:xfrm>
          <a:custGeom>
            <a:avLst/>
            <a:gdLst/>
            <a:ahLst/>
            <a:cxnLst/>
            <a:rect r="r" b="b" t="t" l="l"/>
            <a:pathLst>
              <a:path h="447482" w="454926">
                <a:moveTo>
                  <a:pt x="0" y="0"/>
                </a:moveTo>
                <a:lnTo>
                  <a:pt x="454927" y="0"/>
                </a:lnTo>
                <a:lnTo>
                  <a:pt x="454927" y="447482"/>
                </a:lnTo>
                <a:lnTo>
                  <a:pt x="0" y="4474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5470FF">
                    <a:alpha val="100000"/>
                  </a:srgbClr>
                </a:gs>
                <a:gs pos="100000">
                  <a:srgbClr val="1F3291">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981262" y="3233754"/>
            <a:ext cx="1757694" cy="47625"/>
            <a:chOff x="0" y="0"/>
            <a:chExt cx="462932" cy="12543"/>
          </a:xfrm>
        </p:grpSpPr>
        <p:sp>
          <p:nvSpPr>
            <p:cNvPr name="Freeform 10" id="10"/>
            <p:cNvSpPr/>
            <p:nvPr/>
          </p:nvSpPr>
          <p:spPr>
            <a:xfrm flipH="false" flipV="false" rot="0">
              <a:off x="0" y="0"/>
              <a:ext cx="462932" cy="12543"/>
            </a:xfrm>
            <a:custGeom>
              <a:avLst/>
              <a:gdLst/>
              <a:ahLst/>
              <a:cxnLst/>
              <a:rect r="r" b="b" t="t" l="l"/>
              <a:pathLst>
                <a:path h="12543" w="462932">
                  <a:moveTo>
                    <a:pt x="0" y="0"/>
                  </a:moveTo>
                  <a:lnTo>
                    <a:pt x="462932" y="0"/>
                  </a:lnTo>
                  <a:lnTo>
                    <a:pt x="462932" y="12543"/>
                  </a:lnTo>
                  <a:lnTo>
                    <a:pt x="0" y="12543"/>
                  </a:lnTo>
                  <a:close/>
                </a:path>
              </a:pathLst>
            </a:custGeom>
            <a:gradFill rotWithShape="true">
              <a:gsLst>
                <a:gs pos="0">
                  <a:srgbClr val="5470FF">
                    <a:alpha val="100000"/>
                  </a:srgbClr>
                </a:gs>
                <a:gs pos="100000">
                  <a:srgbClr val="1F3291">
                    <a:alpha val="100000"/>
                  </a:srgbClr>
                </a:gs>
              </a:gsLst>
              <a:lin ang="2700000"/>
            </a:gradFill>
          </p:spPr>
        </p:sp>
        <p:sp>
          <p:nvSpPr>
            <p:cNvPr name="TextBox 11" id="11"/>
            <p:cNvSpPr txBox="true"/>
            <p:nvPr/>
          </p:nvSpPr>
          <p:spPr>
            <a:xfrm>
              <a:off x="0" y="-38100"/>
              <a:ext cx="462932" cy="50643"/>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8897561" y="1958748"/>
            <a:ext cx="8351685" cy="7090002"/>
          </a:xfrm>
          <a:custGeom>
            <a:avLst/>
            <a:gdLst/>
            <a:ahLst/>
            <a:cxnLst/>
            <a:rect r="r" b="b" t="t" l="l"/>
            <a:pathLst>
              <a:path h="7090002" w="8351685">
                <a:moveTo>
                  <a:pt x="0" y="0"/>
                </a:moveTo>
                <a:lnTo>
                  <a:pt x="8351685" y="0"/>
                </a:lnTo>
                <a:lnTo>
                  <a:pt x="8351685" y="7090002"/>
                </a:lnTo>
                <a:lnTo>
                  <a:pt x="0" y="7090002"/>
                </a:lnTo>
                <a:lnTo>
                  <a:pt x="0" y="0"/>
                </a:lnTo>
                <a:close/>
              </a:path>
            </a:pathLst>
          </a:custGeom>
          <a:blipFill>
            <a:blip r:embed="rId4"/>
            <a:stretch>
              <a:fillRect l="-13669" t="0" r="-13669" b="0"/>
            </a:stretch>
          </a:blipFill>
        </p:spPr>
      </p:sp>
      <p:sp>
        <p:nvSpPr>
          <p:cNvPr name="TextBox 13" id="13"/>
          <p:cNvSpPr txBox="true"/>
          <p:nvPr/>
        </p:nvSpPr>
        <p:spPr>
          <a:xfrm rot="0">
            <a:off x="1039108" y="498624"/>
            <a:ext cx="2341020" cy="372745"/>
          </a:xfrm>
          <a:prstGeom prst="rect">
            <a:avLst/>
          </a:prstGeom>
        </p:spPr>
        <p:txBody>
          <a:bodyPr anchor="t" rtlCol="false" tIns="0" lIns="0" bIns="0" rIns="0">
            <a:spAutoFit/>
          </a:bodyPr>
          <a:lstStyle/>
          <a:p>
            <a:pPr algn="l">
              <a:lnSpc>
                <a:spcPts val="3079"/>
              </a:lnSpc>
              <a:spcBef>
                <a:spcPct val="0"/>
              </a:spcBef>
            </a:pPr>
            <a:r>
              <a:rPr lang="en-US" sz="2199">
                <a:solidFill>
                  <a:srgbClr val="FFFFFF"/>
                </a:solidFill>
                <a:latin typeface="Open Sans"/>
                <a:ea typeface="Open Sans"/>
                <a:cs typeface="Open Sans"/>
                <a:sym typeface="Open Sans"/>
              </a:rPr>
              <a:t>GIAIC STUDENT</a:t>
            </a:r>
          </a:p>
        </p:txBody>
      </p:sp>
      <p:sp>
        <p:nvSpPr>
          <p:cNvPr name="TextBox 14" id="14"/>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15" id="15"/>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16" id="16"/>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17" id="17"/>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18" id="18"/>
          <p:cNvSpPr txBox="true"/>
          <p:nvPr/>
        </p:nvSpPr>
        <p:spPr>
          <a:xfrm rot="0">
            <a:off x="17492295" y="9568113"/>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05</a:t>
            </a:r>
          </a:p>
        </p:txBody>
      </p:sp>
      <p:sp>
        <p:nvSpPr>
          <p:cNvPr name="TextBox 19" id="19"/>
          <p:cNvSpPr txBox="true"/>
          <p:nvPr/>
        </p:nvSpPr>
        <p:spPr>
          <a:xfrm rot="0">
            <a:off x="1272861" y="2082573"/>
            <a:ext cx="7074581" cy="997468"/>
          </a:xfrm>
          <a:prstGeom prst="rect">
            <a:avLst/>
          </a:prstGeom>
        </p:spPr>
        <p:txBody>
          <a:bodyPr anchor="t" rtlCol="false" tIns="0" lIns="0" bIns="0" rIns="0">
            <a:spAutoFit/>
          </a:bodyPr>
          <a:lstStyle/>
          <a:p>
            <a:pPr algn="l">
              <a:lnSpc>
                <a:spcPts val="7463"/>
              </a:lnSpc>
            </a:pPr>
            <a:r>
              <a:rPr lang="en-US" sz="7389">
                <a:solidFill>
                  <a:srgbClr val="FFFFFF"/>
                </a:solidFill>
                <a:latin typeface="Bebas Neue Cyrillic"/>
                <a:ea typeface="Bebas Neue Cyrillic"/>
                <a:cs typeface="Bebas Neue Cyrillic"/>
                <a:sym typeface="Bebas Neue Cyrillic"/>
              </a:rPr>
              <a:t>large language model</a:t>
            </a:r>
          </a:p>
        </p:txBody>
      </p:sp>
      <p:sp>
        <p:nvSpPr>
          <p:cNvPr name="TextBox 20" id="20"/>
          <p:cNvSpPr txBox="true"/>
          <p:nvPr/>
        </p:nvSpPr>
        <p:spPr>
          <a:xfrm rot="0">
            <a:off x="1028700" y="3836669"/>
            <a:ext cx="7318742" cy="5212081"/>
          </a:xfrm>
          <a:prstGeom prst="rect">
            <a:avLst/>
          </a:prstGeom>
        </p:spPr>
        <p:txBody>
          <a:bodyPr anchor="t" rtlCol="false" tIns="0" lIns="0" bIns="0" rIns="0">
            <a:spAutoFit/>
          </a:bodyPr>
          <a:lstStyle/>
          <a:p>
            <a:pPr algn="l">
              <a:lnSpc>
                <a:spcPts val="4619"/>
              </a:lnSpc>
              <a:spcBef>
                <a:spcPct val="0"/>
              </a:spcBef>
            </a:pPr>
            <a:r>
              <a:rPr lang="en-US" sz="3299">
                <a:solidFill>
                  <a:srgbClr val="FFFFFF"/>
                </a:solidFill>
                <a:latin typeface="Canva Sans"/>
                <a:ea typeface="Canva Sans"/>
                <a:cs typeface="Canva Sans"/>
                <a:sym typeface="Canva Sans"/>
              </a:rPr>
              <a:t>Large Language Models (LLMs) are deep learning AIs trained on vast amounts of text data to understand and generate human-like language. They use the Transformer neural network architecture to process text in parallel, allowing them to learn patterns, grammar, and context from the data they are fed.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938">
                <a:alpha val="100000"/>
              </a:srgbClr>
            </a:gs>
            <a:gs pos="100000">
              <a:srgbClr val="000935">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7742214" y="7517955"/>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5470FF">
                    <a:alpha val="100000"/>
                  </a:srgbClr>
                </a:gs>
                <a:gs pos="100000">
                  <a:srgbClr val="1F3291">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11717" y="402443"/>
            <a:ext cx="454926" cy="447482"/>
          </a:xfrm>
          <a:custGeom>
            <a:avLst/>
            <a:gdLst/>
            <a:ahLst/>
            <a:cxnLst/>
            <a:rect r="r" b="b" t="t" l="l"/>
            <a:pathLst>
              <a:path h="447482" w="454926">
                <a:moveTo>
                  <a:pt x="0" y="0"/>
                </a:moveTo>
                <a:lnTo>
                  <a:pt x="454927" y="0"/>
                </a:lnTo>
                <a:lnTo>
                  <a:pt x="454927" y="447482"/>
                </a:lnTo>
                <a:lnTo>
                  <a:pt x="0" y="4474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5470FF">
                    <a:alpha val="100000"/>
                  </a:srgbClr>
                </a:gs>
                <a:gs pos="100000">
                  <a:srgbClr val="1F3291">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39108" y="498624"/>
            <a:ext cx="1949560" cy="339725"/>
          </a:xfrm>
          <a:prstGeom prst="rect">
            <a:avLst/>
          </a:prstGeom>
        </p:spPr>
        <p:txBody>
          <a:bodyPr anchor="t" rtlCol="false" tIns="0" lIns="0" bIns="0" rIns="0">
            <a:spAutoFit/>
          </a:bodyPr>
          <a:lstStyle/>
          <a:p>
            <a:pPr algn="l">
              <a:lnSpc>
                <a:spcPts val="2799"/>
              </a:lnSpc>
              <a:spcBef>
                <a:spcPct val="0"/>
              </a:spcBef>
            </a:pPr>
            <a:r>
              <a:rPr lang="en-US" sz="1999">
                <a:solidFill>
                  <a:srgbClr val="FFFFFF"/>
                </a:solidFill>
                <a:latin typeface="Open Sans"/>
                <a:ea typeface="Open Sans"/>
                <a:cs typeface="Open Sans"/>
                <a:sym typeface="Open Sans"/>
              </a:rPr>
              <a:t>GIAIC STUDENT</a:t>
            </a:r>
          </a:p>
        </p:txBody>
      </p:sp>
      <p:sp>
        <p:nvSpPr>
          <p:cNvPr name="TextBox 10" id="10"/>
          <p:cNvSpPr txBox="true"/>
          <p:nvPr/>
        </p:nvSpPr>
        <p:spPr>
          <a:xfrm rot="0">
            <a:off x="15940842" y="5176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Contact</a:t>
            </a:r>
          </a:p>
        </p:txBody>
      </p:sp>
      <p:sp>
        <p:nvSpPr>
          <p:cNvPr name="TextBox 11" id="11"/>
          <p:cNvSpPr txBox="true"/>
          <p:nvPr/>
        </p:nvSpPr>
        <p:spPr>
          <a:xfrm rot="0">
            <a:off x="14385046" y="5176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About Us</a:t>
            </a:r>
          </a:p>
        </p:txBody>
      </p:sp>
      <p:sp>
        <p:nvSpPr>
          <p:cNvPr name="TextBox 12" id="12"/>
          <p:cNvSpPr txBox="true"/>
          <p:nvPr/>
        </p:nvSpPr>
        <p:spPr>
          <a:xfrm rot="0">
            <a:off x="13154289" y="5176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Service</a:t>
            </a:r>
          </a:p>
        </p:txBody>
      </p:sp>
      <p:sp>
        <p:nvSpPr>
          <p:cNvPr name="TextBox 13" id="13"/>
          <p:cNvSpPr txBox="true"/>
          <p:nvPr/>
        </p:nvSpPr>
        <p:spPr>
          <a:xfrm rot="0">
            <a:off x="11898530" y="5176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Home</a:t>
            </a:r>
          </a:p>
        </p:txBody>
      </p:sp>
      <p:sp>
        <p:nvSpPr>
          <p:cNvPr name="TextBox 14" id="14"/>
          <p:cNvSpPr txBox="true"/>
          <p:nvPr/>
        </p:nvSpPr>
        <p:spPr>
          <a:xfrm rot="0">
            <a:off x="17492295" y="9568113"/>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06</a:t>
            </a:r>
          </a:p>
        </p:txBody>
      </p:sp>
      <p:grpSp>
        <p:nvGrpSpPr>
          <p:cNvPr name="Group 15" id="15"/>
          <p:cNvGrpSpPr/>
          <p:nvPr/>
        </p:nvGrpSpPr>
        <p:grpSpPr>
          <a:xfrm rot="0">
            <a:off x="1028700" y="1028700"/>
            <a:ext cx="16230600" cy="4114800"/>
            <a:chOff x="0" y="0"/>
            <a:chExt cx="21640800" cy="5486400"/>
          </a:xfrm>
        </p:grpSpPr>
        <p:pic>
          <p:nvPicPr>
            <p:cNvPr name="Picture 16" id="16"/>
            <p:cNvPicPr>
              <a:picLocks noChangeAspect="true"/>
            </p:cNvPicPr>
            <p:nvPr/>
          </p:nvPicPr>
          <p:blipFill>
            <a:blip r:embed="rId4"/>
            <a:srcRect l="0" t="13588" r="0" b="41341"/>
            <a:stretch>
              <a:fillRect/>
            </a:stretch>
          </p:blipFill>
          <p:spPr>
            <a:xfrm flipH="false" flipV="false">
              <a:off x="0" y="0"/>
              <a:ext cx="21640800" cy="5486400"/>
            </a:xfrm>
            <a:prstGeom prst="rect">
              <a:avLst/>
            </a:prstGeom>
          </p:spPr>
        </p:pic>
      </p:grpSp>
      <p:grpSp>
        <p:nvGrpSpPr>
          <p:cNvPr name="Group 17" id="17"/>
          <p:cNvGrpSpPr/>
          <p:nvPr/>
        </p:nvGrpSpPr>
        <p:grpSpPr>
          <a:xfrm rot="0">
            <a:off x="1678620" y="7383062"/>
            <a:ext cx="1757694" cy="47625"/>
            <a:chOff x="0" y="0"/>
            <a:chExt cx="462932" cy="12543"/>
          </a:xfrm>
        </p:grpSpPr>
        <p:sp>
          <p:nvSpPr>
            <p:cNvPr name="Freeform 18" id="18"/>
            <p:cNvSpPr/>
            <p:nvPr/>
          </p:nvSpPr>
          <p:spPr>
            <a:xfrm flipH="false" flipV="false" rot="0">
              <a:off x="0" y="0"/>
              <a:ext cx="462932" cy="12543"/>
            </a:xfrm>
            <a:custGeom>
              <a:avLst/>
              <a:gdLst/>
              <a:ahLst/>
              <a:cxnLst/>
              <a:rect r="r" b="b" t="t" l="l"/>
              <a:pathLst>
                <a:path h="12543" w="462932">
                  <a:moveTo>
                    <a:pt x="0" y="0"/>
                  </a:moveTo>
                  <a:lnTo>
                    <a:pt x="462932" y="0"/>
                  </a:lnTo>
                  <a:lnTo>
                    <a:pt x="462932" y="12543"/>
                  </a:lnTo>
                  <a:lnTo>
                    <a:pt x="0" y="12543"/>
                  </a:lnTo>
                  <a:close/>
                </a:path>
              </a:pathLst>
            </a:custGeom>
            <a:gradFill rotWithShape="true">
              <a:gsLst>
                <a:gs pos="0">
                  <a:srgbClr val="5470FF">
                    <a:alpha val="100000"/>
                  </a:srgbClr>
                </a:gs>
                <a:gs pos="100000">
                  <a:srgbClr val="1F3291">
                    <a:alpha val="100000"/>
                  </a:srgbClr>
                </a:gs>
              </a:gsLst>
              <a:lin ang="2700000"/>
            </a:gradFill>
          </p:spPr>
        </p:sp>
        <p:sp>
          <p:nvSpPr>
            <p:cNvPr name="TextBox 19" id="19"/>
            <p:cNvSpPr txBox="true"/>
            <p:nvPr/>
          </p:nvSpPr>
          <p:spPr>
            <a:xfrm>
              <a:off x="0" y="-38100"/>
              <a:ext cx="462932" cy="50643"/>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1974429" y="4077257"/>
            <a:ext cx="15517866" cy="5284939"/>
          </a:xfrm>
          <a:prstGeom prst="rect">
            <a:avLst/>
          </a:prstGeom>
        </p:spPr>
        <p:txBody>
          <a:bodyPr anchor="t" rtlCol="false" tIns="0" lIns="0" bIns="0" rIns="0">
            <a:spAutoFit/>
          </a:bodyPr>
          <a:lstStyle/>
          <a:p>
            <a:pPr algn="ctr">
              <a:lnSpc>
                <a:spcPts val="3108"/>
              </a:lnSpc>
            </a:pPr>
          </a:p>
          <a:p>
            <a:pPr algn="ctr">
              <a:lnSpc>
                <a:spcPts val="3108"/>
              </a:lnSpc>
            </a:pPr>
          </a:p>
          <a:p>
            <a:pPr algn="ctr">
              <a:lnSpc>
                <a:spcPts val="3108"/>
              </a:lnSpc>
            </a:pPr>
          </a:p>
          <a:p>
            <a:pPr algn="ctr">
              <a:lnSpc>
                <a:spcPts val="3108"/>
              </a:lnSpc>
            </a:pPr>
          </a:p>
          <a:p>
            <a:pPr algn="ctr">
              <a:lnSpc>
                <a:spcPts val="5914"/>
              </a:lnSpc>
              <a:spcBef>
                <a:spcPct val="0"/>
              </a:spcBef>
            </a:pPr>
            <a:r>
              <a:rPr lang="en-US" b="true" sz="4224">
                <a:gradFill>
                  <a:gsLst>
                    <a:gs pos="0">
                      <a:srgbClr val="5DE0E6">
                        <a:alpha val="100000"/>
                      </a:srgbClr>
                    </a:gs>
                    <a:gs pos="100000">
                      <a:srgbClr val="004AAD">
                        <a:alpha val="100000"/>
                      </a:srgbClr>
                    </a:gs>
                  </a:gsLst>
                  <a:lin ang="0"/>
                </a:gradFill>
                <a:latin typeface="Canva Sans Bold"/>
                <a:ea typeface="Canva Sans Bold"/>
                <a:cs typeface="Canva Sans Bold"/>
                <a:sym typeface="Canva Sans Bold"/>
              </a:rPr>
              <a:t>Fundamental Prompting Techniques</a:t>
            </a:r>
          </a:p>
          <a:p>
            <a:pPr algn="just">
              <a:lnSpc>
                <a:spcPts val="4103"/>
              </a:lnSpc>
              <a:spcBef>
                <a:spcPct val="0"/>
              </a:spcBef>
            </a:pPr>
            <a:r>
              <a:rPr lang="en-US" b="true" sz="2931">
                <a:solidFill>
                  <a:srgbClr val="FFFFFF"/>
                </a:solidFill>
                <a:latin typeface="Canva Sans Bold"/>
                <a:ea typeface="Canva Sans Bold"/>
                <a:cs typeface="Canva Sans Bold"/>
                <a:sym typeface="Canva Sans Bold"/>
              </a:rPr>
              <a:t>1. Zero-Shot Prompting</a:t>
            </a:r>
            <a:r>
              <a:rPr lang="en-US" sz="2931">
                <a:solidFill>
                  <a:srgbClr val="FFFFFF"/>
                </a:solidFill>
                <a:latin typeface="Canva Sans"/>
                <a:ea typeface="Canva Sans"/>
                <a:cs typeface="Canva Sans"/>
                <a:sym typeface="Canva Sans"/>
              </a:rPr>
              <a:t> :- The simplest approach—just ask directly without examples.</a:t>
            </a:r>
          </a:p>
          <a:p>
            <a:pPr algn="just">
              <a:lnSpc>
                <a:spcPts val="4103"/>
              </a:lnSpc>
              <a:spcBef>
                <a:spcPct val="0"/>
              </a:spcBef>
            </a:pPr>
            <a:r>
              <a:rPr lang="en-US" b="true" sz="2931">
                <a:solidFill>
                  <a:srgbClr val="FFFFFF"/>
                </a:solidFill>
                <a:latin typeface="Canva Sans Bold"/>
                <a:ea typeface="Canva Sans Bold"/>
                <a:cs typeface="Canva Sans Bold"/>
                <a:sym typeface="Canva Sans Bold"/>
              </a:rPr>
              <a:t>2. One-Shot Prompting</a:t>
            </a:r>
            <a:r>
              <a:rPr lang="en-US" sz="2931">
                <a:solidFill>
                  <a:srgbClr val="FFFFFF"/>
                </a:solidFill>
                <a:latin typeface="Canva Sans"/>
                <a:ea typeface="Canva Sans"/>
                <a:cs typeface="Canva Sans"/>
                <a:sym typeface="Canva Sans"/>
              </a:rPr>
              <a:t>:- Provide a single example to guide the response format.</a:t>
            </a:r>
          </a:p>
          <a:p>
            <a:pPr algn="just">
              <a:lnSpc>
                <a:spcPts val="4103"/>
              </a:lnSpc>
              <a:spcBef>
                <a:spcPct val="0"/>
              </a:spcBef>
            </a:pPr>
            <a:r>
              <a:rPr lang="en-US" b="true" sz="2931">
                <a:solidFill>
                  <a:srgbClr val="FFFFFF"/>
                </a:solidFill>
                <a:latin typeface="Canva Sans Bold"/>
                <a:ea typeface="Canva Sans Bold"/>
                <a:cs typeface="Canva Sans Bold"/>
                <a:sym typeface="Canva Sans Bold"/>
              </a:rPr>
              <a:t>3. Few-Shot Prompting</a:t>
            </a:r>
            <a:r>
              <a:rPr lang="en-US" sz="2931">
                <a:solidFill>
                  <a:srgbClr val="FFFFFF"/>
                </a:solidFill>
                <a:latin typeface="Canva Sans"/>
                <a:ea typeface="Canva Sans"/>
                <a:cs typeface="Canva Sans"/>
                <a:sym typeface="Canva Sans"/>
              </a:rPr>
              <a:t> :- Provide multiple examples to establish a clear pattern.</a:t>
            </a:r>
          </a:p>
          <a:p>
            <a:pPr algn="just">
              <a:lnSpc>
                <a:spcPts val="4103"/>
              </a:lnSpc>
              <a:spcBef>
                <a:spcPct val="0"/>
              </a:spcBef>
            </a:pPr>
            <a:r>
              <a:rPr lang="en-US" b="true" sz="2931">
                <a:solidFill>
                  <a:srgbClr val="FFFFFF"/>
                </a:solidFill>
                <a:latin typeface="Canva Sans Bold"/>
                <a:ea typeface="Canva Sans Bold"/>
                <a:cs typeface="Canva Sans Bold"/>
                <a:sym typeface="Canva Sans Bold"/>
              </a:rPr>
              <a:t>4. System Prompting</a:t>
            </a:r>
            <a:r>
              <a:rPr lang="en-US" sz="2931">
                <a:solidFill>
                  <a:srgbClr val="FFFFFF"/>
                </a:solidFill>
                <a:latin typeface="Canva Sans"/>
                <a:ea typeface="Canva Sans"/>
                <a:cs typeface="Canva Sans"/>
                <a:sym typeface="Canva Sans"/>
              </a:rPr>
              <a:t> :- Set overall context and behavior guidelines.</a:t>
            </a:r>
          </a:p>
          <a:p>
            <a:pPr algn="just">
              <a:lnSpc>
                <a:spcPts val="4103"/>
              </a:lnSpc>
              <a:spcBef>
                <a:spcPct val="0"/>
              </a:spcBef>
            </a:pPr>
            <a:r>
              <a:rPr lang="en-US" b="true" sz="2931">
                <a:solidFill>
                  <a:srgbClr val="FFFFFF"/>
                </a:solidFill>
                <a:latin typeface="Canva Sans Bold"/>
                <a:ea typeface="Canva Sans Bold"/>
                <a:cs typeface="Canva Sans Bold"/>
                <a:sym typeface="Canva Sans Bold"/>
              </a:rPr>
              <a:t>5. Role Prompting</a:t>
            </a:r>
            <a:r>
              <a:rPr lang="en-US" sz="2931">
                <a:solidFill>
                  <a:srgbClr val="FFFFFF"/>
                </a:solidFill>
                <a:latin typeface="Canva Sans"/>
                <a:ea typeface="Canva Sans"/>
                <a:cs typeface="Canva Sans"/>
                <a:sym typeface="Canva Sans"/>
              </a:rPr>
              <a:t> :- Assign a specific character or expertise to the AI.</a:t>
            </a:r>
          </a:p>
          <a:p>
            <a:pPr algn="just">
              <a:lnSpc>
                <a:spcPts val="3349"/>
              </a:lnSpc>
              <a:spcBef>
                <a:spcPct val="0"/>
              </a:spcBef>
            </a:pPr>
            <a:r>
              <a:rPr lang="en-US" b="true" sz="2392">
                <a:solidFill>
                  <a:srgbClr val="FFFFFF"/>
                </a:solidFill>
                <a:latin typeface="Canva Sans Bold"/>
                <a:ea typeface="Canva Sans Bold"/>
                <a:cs typeface="Canva Sans Bold"/>
                <a:sym typeface="Canva Sans Bold"/>
              </a:rPr>
              <a:t>6. Contextual Prompting</a:t>
            </a:r>
            <a:r>
              <a:rPr lang="en-US" sz="2392">
                <a:solidFill>
                  <a:srgbClr val="FFFFFF"/>
                </a:solidFill>
                <a:latin typeface="Canva Sans"/>
                <a:ea typeface="Canva Sans"/>
                <a:cs typeface="Canva Sans"/>
                <a:sym typeface="Canva Sans"/>
              </a:rPr>
              <a:t> :- Provide specific background information relevant to the task.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DAG3wEXqTK8</dc:identifier>
  <dcterms:modified xsi:type="dcterms:W3CDTF">2011-08-01T06:04:30Z</dcterms:modified>
  <cp:revision>1</cp:revision>
  <dc:title>Blue Futuristic Artificial Intelligence Presentation</dc:title>
</cp:coreProperties>
</file>